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65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GRADUATE SYSTEMS · FINAL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Profiling Kernel Scheduling Delays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Network-Intensive Workloads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6035040" cy="50292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880360"/>
            <a:ext cx="73152" cy="50292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89504"/>
            <a:ext cx="5852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eBPF-Based Analysis &amp; Mitigation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7315200" cy="22860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749040"/>
            <a:ext cx="73152" cy="22860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251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Kumar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MT25037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Kumar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MT25017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Abhinay Prakash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MT25010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2519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Nindra Dhanush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MT25074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Shukla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PhD25001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IIIT-Delhi  ·  April 2026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931920"/>
            <a:ext cx="1005840" cy="1005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12480" y="5074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982980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0" y="5669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8298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p99 Latency is Degrading Network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0292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server receives packets at line rate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softirq (NET_RX) processes them on CPUs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threads wait in runqueue for the CPU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 → execution delay grows from μs → ms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 (p99, p99.9) spikes invisibly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8640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4652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27×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9154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p99 delay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heavy CPU load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ms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9154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150 μs baseline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wakeup-to-execute stall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−45%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8915400" y="4709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collapse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CPU is saturated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46520" y="5760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low-latency trading, microservices, real-time web services.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network-stack mitigations</a:t>
            </a:r>
            <a:r>
              <a:rPr lang="en-US" sz="3200" b="1" i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(RPS, pinning, CFS tuning, busy polling) 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tail latency when CPUs are saturated?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3566160" cy="246888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657600"/>
            <a:ext cx="73152" cy="246888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delay?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44348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softirq preemption,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runqueue depth, or scheduler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3657600"/>
            <a:ext cx="3566160" cy="246888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3657600"/>
            <a:ext cx="73152" cy="246888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8404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placement matter?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44348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RPS spread softirq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application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3657600"/>
            <a:ext cx="3566160" cy="246888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3657600"/>
            <a:ext cx="73152" cy="246888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8404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mitigations compose?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44348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stacking techniques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up, or cause new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Kernel Concepts We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84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Softirq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interrupt handler. NET_RX_SOFTIRQ processes incoming packets off the NIC ring buffer — runs in interrupt context, can preempt app threads.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141732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184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26280" y="21031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model under load. netdev_budget caps packets per cycle. Reducing it forces deferral to ksoftirqd kernel threads (schedulable by CFS).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141732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6184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5727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Runqueue Delay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21031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sched_wakeup (runnable) and sched_switch (dispatched). Our primary metric — measured in μs via eBPF tracepoints.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88620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88620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873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041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85800" y="4572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Packet Steering. Software distribution of softirq CPU placement via rps_cpus sysfs. Correct mechanism for veth (no hw IRQs).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297680" y="388620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08736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4041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526280" y="4572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Fair Scheduler. Default Linux scheduler using vruntime. Tunables: sched_min_granularity, sched_wakeup_granularity.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70332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3886200"/>
            <a:ext cx="73152" cy="2331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08736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4041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SO_BUSY_POLL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366760" y="4572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Per-socket option. App thread polls the NIC directly, bypassing the softirq wakeup path — trades CPU cycles for lower latency.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Classical Tools Miss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029200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Conventional tools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htop — only coarse % CPU; masks μs-scale stalls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/ sar — aggregates over long windows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metrics show tail spikes but can't locate cause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sched_wakeup → sched_switch gap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profilers miss sub-ms scheduling events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864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417320"/>
            <a:ext cx="73152" cy="5029200"/>
          </a:xfrm>
          <a:prstGeom prst="rect">
            <a:avLst/>
          </a:prstGeom>
          <a:solidFill>
            <a:srgbClr val="A7E6D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00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eBPF solves this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3317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in-kernel programs attached to tracepoints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Nanosecond-precision timestamps on scheduling events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In-kernel histogram aggregation → sub-5% overhead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source-code changes to kernel or application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scheduler + softirq + network events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Four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85800" y="2880360"/>
            <a:ext cx="91440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0175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eBPF scripts (bpftrace) to measure runqueue delay, softirq duration, packet drops, CPU migrations — under 5% overhead.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55848" y="1417320"/>
            <a:ext cx="274320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2" name="Shape 9"/>
          <p:cNvSpPr/>
          <p:nvPr/>
        </p:nvSpPr>
        <p:spPr>
          <a:xfrm>
            <a:off x="3355848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3" name="Text 10"/>
          <p:cNvSpPr/>
          <p:nvPr/>
        </p:nvSpPr>
        <p:spPr>
          <a:xfrm>
            <a:off x="3584448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16916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3584448" y="2880360"/>
            <a:ext cx="91440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7" name="Text 13"/>
          <p:cNvSpPr/>
          <p:nvPr/>
        </p:nvSpPr>
        <p:spPr>
          <a:xfrm>
            <a:off x="3584448" y="30175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16-experiment matrix varying CPU contention, network load, RPS, CPU pinning, CFS tuning, NAPI, protocol, busy-poll.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54496" y="1417320"/>
            <a:ext cx="274320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9" name="Shape 15"/>
          <p:cNvSpPr/>
          <p:nvPr/>
        </p:nvSpPr>
        <p:spPr>
          <a:xfrm>
            <a:off x="6254496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20" name="Text 16"/>
          <p:cNvSpPr/>
          <p:nvPr/>
        </p:nvSpPr>
        <p:spPr>
          <a:xfrm>
            <a:off x="6483096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16916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3096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483096" y="2880360"/>
            <a:ext cx="91440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4" name="Text 19"/>
          <p:cNvSpPr/>
          <p:nvPr/>
        </p:nvSpPr>
        <p:spPr>
          <a:xfrm>
            <a:off x="6483096" y="30175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mitigations: RPS steering, app CPU pinning, CFS low-latency, forced ksoftirqd, SO_BUSY_POLL — under heavy CPU contention.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153144" y="1417320"/>
            <a:ext cx="274320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6" name="Shape 21"/>
          <p:cNvSpPr/>
          <p:nvPr/>
        </p:nvSpPr>
        <p:spPr>
          <a:xfrm>
            <a:off x="9153144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27" name="Text 22"/>
          <p:cNvSpPr/>
          <p:nvPr/>
        </p:nvSpPr>
        <p:spPr>
          <a:xfrm>
            <a:off x="9381744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544" y="169164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81744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Reproduce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9381744" y="2880360"/>
            <a:ext cx="91440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1" name="Text 25"/>
          <p:cNvSpPr/>
          <p:nvPr/>
        </p:nvSpPr>
        <p:spPr>
          <a:xfrm>
            <a:off x="9381744" y="30175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full package: scripts, configs, raw data, analysis notebooks. Re-runnable on any Linux 5.15+ with ≥ 4 cores.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3" name="Text 27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Single-Machine Testbed: Namespaces + veth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 ·  Ubuntu 22.04.5 LTS  ·  Kernel 6.8.0  ·  20 cores  ·  16 GB 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3474720" cy="246888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11680"/>
            <a:ext cx="73152" cy="246888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 namespace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10.0.0.1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346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memcached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2461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iperf3 -s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6576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busy-poll echo (E15/E16)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2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latency target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48056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 pair  ·  88 Gbps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34840" y="3200400"/>
            <a:ext cx="3291840" cy="0"/>
          </a:xfrm>
          <a:prstGeom prst="line">
            <a:avLst/>
          </a:prstGeom>
          <a:noFill/>
          <a:ln w="50800">
            <a:solidFill>
              <a:srgbClr val="1C7293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44805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→ softirq (NET_RX) → runqueue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772400" y="2011680"/>
            <a:ext cx="3474720" cy="246888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0" y="2011680"/>
            <a:ext cx="73152" cy="246888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3" name="Text 18"/>
          <p:cNvSpPr/>
          <p:nvPr/>
        </p:nvSpPr>
        <p:spPr>
          <a:xfrm>
            <a:off x="79552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namespace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9552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10.0.0.2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8346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3667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memcslap (latency)</a:t>
            </a:r>
            <a:endParaRPr lang="en-US" sz="13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24612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66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iperf3 -c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9552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generator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solidFill>
            <a:srgbClr val="F4B86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8006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45920" y="4663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stress-ng  ·  system-wide CPU contention  ·  moderate (2 cores) or heavy (N−2 cores)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veth? Exercises the full kernel network path (socket → TCP/IP → qdisc → virtual NIC → peer ns) without NIC hardware variability — full reproducibility. Softirq via netif_rx/NAPI, not hw IRQ.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eBPF Probes Running in Parallel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905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90525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33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sched_delay.bt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846320" y="1581912"/>
            <a:ext cx="14630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to sched_wakeup + sched_switch. Computes runqueue delay = ts(switch) − ts(wakeup). In-kernel histogram + 1-in-1000 sampled CSV.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395728"/>
            <a:ext cx="11247120" cy="905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395728"/>
            <a:ext cx="73152" cy="90525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softirq_net.bt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846320" y="2560320"/>
            <a:ext cx="14630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SOFTIRQ CPU%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280160" y="287121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NET_RX (vec=3) / NET_TX (vec=2) durations via softirq_entry/exit. Computes per-CPU softirq CPU%. Guards against orphaned events.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3374136"/>
            <a:ext cx="11247120" cy="905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3374136"/>
            <a:ext cx="73152" cy="90525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3016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net_drops.bt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4846320" y="3538728"/>
            <a:ext cx="14630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484632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DROPS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280160" y="384962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kfree_skb drop locations, tcp_retransmit_skb, and SYN receives — correlates drops with CPU contention.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57200" y="4352544"/>
            <a:ext cx="11247120" cy="905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457200" y="4352544"/>
            <a:ext cx="73152" cy="90525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08576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80160" y="4462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cpu_migrations.bt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4846320" y="4517136"/>
            <a:ext cx="14630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4"/>
          <p:cNvSpPr/>
          <p:nvPr/>
        </p:nvSpPr>
        <p:spPr>
          <a:xfrm>
            <a:off x="4846320" y="4517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MOBILITY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280160" y="48280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sched_migrate_task events. Records per-process migration counts + orig_cpu → dest_cpu matrices.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57200" y="5330952"/>
            <a:ext cx="11247120" cy="905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457200" y="5330952"/>
            <a:ext cx="73152" cy="90525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586984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8016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proc_pollers.sh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4846320" y="5495544"/>
            <a:ext cx="14630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0"/>
          <p:cNvSpPr/>
          <p:nvPr/>
        </p:nvSpPr>
        <p:spPr>
          <a:xfrm>
            <a:off x="4846320" y="5495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METRICS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28016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 polling of /proc/stat, /proc/net/softnet_stat, /proc/net/snmp, /proc/net/sockstat, /proc/interrupts.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40" name="Text 33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Experiments × 3 Runs = 48 Total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– E4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None/Heavy CPU × Low/High net. E1 = reference. E4 = worst case.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4173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417320"/>
            <a:ext cx="73152" cy="219456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448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Softirq Placement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4448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 – E8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84448" y="2423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pinned, RPS spread, app CPU pinning, combined — isolate softirq from app.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14173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1417320"/>
            <a:ext cx="73152" cy="219456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83096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Tuning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096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E9 – E13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3096" y="2423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low-latency, forced ksoftirqd, UDP vs TCP, moderate stress threshold.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53144" y="1417320"/>
            <a:ext cx="274320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153144" y="1417320"/>
            <a:ext cx="73152" cy="21945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9381744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81744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81744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E14 – E16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81744" y="24231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stack, RPS + busy_poll, busy_poll only — test compositional effects.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11247120" cy="271576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 spread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ksoftirqd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+ stress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11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Busy poll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(Showing 8 representative rows — full 16-experiment matrix defined in orchestrator script)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FOLLOWS THIS STRICT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Reproducible, automated, 60-second measurement windows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73152" cy="128016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762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19072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0423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1887583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2" name="Shape 9"/>
          <p:cNvSpPr/>
          <p:nvPr/>
        </p:nvSpPr>
        <p:spPr>
          <a:xfrm>
            <a:off x="1887583" y="2011680"/>
            <a:ext cx="73152" cy="128016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203" y="21762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87583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887583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49455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80806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3317966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9" name="Shape 15"/>
          <p:cNvSpPr/>
          <p:nvPr/>
        </p:nvSpPr>
        <p:spPr>
          <a:xfrm>
            <a:off x="3317966" y="2011680"/>
            <a:ext cx="73152" cy="128016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586" y="21762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17966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probes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17966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579838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11189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4748349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26" name="Shape 21"/>
          <p:cNvSpPr/>
          <p:nvPr/>
        </p:nvSpPr>
        <p:spPr>
          <a:xfrm>
            <a:off x="4748349" y="2011680"/>
            <a:ext cx="73152" cy="1280160"/>
          </a:xfrm>
          <a:prstGeom prst="rect">
            <a:avLst/>
          </a:prstGeom>
          <a:solidFill>
            <a:srgbClr val="F4B86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969" y="217627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48349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stressors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48349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010221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041571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32" name="Shape 26"/>
          <p:cNvSpPr/>
          <p:nvPr/>
        </p:nvSpPr>
        <p:spPr>
          <a:xfrm>
            <a:off x="6178731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33" name="Shape 27"/>
          <p:cNvSpPr/>
          <p:nvPr/>
        </p:nvSpPr>
        <p:spPr>
          <a:xfrm>
            <a:off x="6178731" y="2011680"/>
            <a:ext cx="73152" cy="1280160"/>
          </a:xfrm>
          <a:prstGeom prst="rect">
            <a:avLst/>
          </a:prstGeom>
          <a:solidFill>
            <a:srgbClr val="F4B860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351" y="2176272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178731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178731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7440603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471954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39" name="Shape 32"/>
          <p:cNvSpPr/>
          <p:nvPr/>
        </p:nvSpPr>
        <p:spPr>
          <a:xfrm>
            <a:off x="7609114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40" name="Shape 33"/>
          <p:cNvSpPr/>
          <p:nvPr/>
        </p:nvSpPr>
        <p:spPr>
          <a:xfrm>
            <a:off x="7609114" y="2011680"/>
            <a:ext cx="73152" cy="1280160"/>
          </a:xfrm>
          <a:prstGeom prst="rect">
            <a:avLst/>
          </a:prstGeom>
          <a:solidFill>
            <a:srgbClr val="F4B860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734" y="2176272"/>
            <a:ext cx="457200" cy="4572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609114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609114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8870986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902337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46" name="Shape 38"/>
          <p:cNvSpPr/>
          <p:nvPr/>
        </p:nvSpPr>
        <p:spPr>
          <a:xfrm>
            <a:off x="9039497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47" name="Shape 39"/>
          <p:cNvSpPr/>
          <p:nvPr/>
        </p:nvSpPr>
        <p:spPr>
          <a:xfrm>
            <a:off x="9039497" y="2011680"/>
            <a:ext cx="73152" cy="1280160"/>
          </a:xfrm>
          <a:prstGeom prst="rect">
            <a:avLst/>
          </a:prstGeom>
          <a:solidFill>
            <a:srgbClr val="A7E6D4"/>
          </a:solidFill>
          <a:ln/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117" y="2176272"/>
            <a:ext cx="457200" cy="4572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039497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9039497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E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</a:t>
            </a:r>
            <a:endParaRPr lang="en-US" sz="1300" dirty="0"/>
          </a:p>
        </p:txBody>
      </p:sp>
      <p:sp>
        <p:nvSpPr>
          <p:cNvPr id="51" name="Shape 42"/>
          <p:cNvSpPr/>
          <p:nvPr/>
        </p:nvSpPr>
        <p:spPr>
          <a:xfrm>
            <a:off x="10301369" y="2651760"/>
            <a:ext cx="14107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0332720" y="2560320"/>
            <a:ext cx="128016" cy="182880"/>
          </a:xfrm>
          <a:prstGeom prst="line">
            <a:avLst/>
          </a:prstGeom>
          <a:solidFill>
            <a:srgbClr val="1C7293"/>
          </a:solidFill>
          <a:ln/>
        </p:spPr>
      </p:sp>
      <p:sp>
        <p:nvSpPr>
          <p:cNvPr id="53" name="Shape 44"/>
          <p:cNvSpPr/>
          <p:nvPr/>
        </p:nvSpPr>
        <p:spPr>
          <a:xfrm>
            <a:off x="10469880" y="2011680"/>
            <a:ext cx="1234440" cy="12801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54" name="Shape 45"/>
          <p:cNvSpPr/>
          <p:nvPr/>
        </p:nvSpPr>
        <p:spPr>
          <a:xfrm>
            <a:off x="10469880" y="2011680"/>
            <a:ext cx="73152" cy="128016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0" y="2176272"/>
            <a:ext cx="457200" cy="45720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046988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reset</a:t>
            </a:r>
            <a:endParaRPr lang="en-US" sz="1100" dirty="0"/>
          </a:p>
        </p:txBody>
      </p:sp>
      <p:sp>
        <p:nvSpPr>
          <p:cNvPr id="57" name="Text 47"/>
          <p:cNvSpPr/>
          <p:nvPr/>
        </p:nvSpPr>
        <p:spPr>
          <a:xfrm>
            <a:off x="1046988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</a:t>
            </a:r>
            <a:endParaRPr lang="en-US" sz="1300" dirty="0"/>
          </a:p>
        </p:txBody>
      </p:sp>
      <p:sp>
        <p:nvSpPr>
          <p:cNvPr id="58" name="Shape 48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59" name="Shape 49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60" name="Text 50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31520" y="4754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62" name="Text 52"/>
          <p:cNvSpPr/>
          <p:nvPr/>
        </p:nvSpPr>
        <p:spPr>
          <a:xfrm>
            <a:off x="73152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experiment</a:t>
            </a:r>
            <a:endParaRPr lang="en-US" sz="1400" dirty="0"/>
          </a:p>
        </p:txBody>
      </p:sp>
      <p:sp>
        <p:nvSpPr>
          <p:cNvPr id="63" name="Text 53"/>
          <p:cNvSpPr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statistical consistency</a:t>
            </a:r>
            <a:endParaRPr lang="en-US" sz="1100" dirty="0"/>
          </a:p>
        </p:txBody>
      </p:sp>
      <p:sp>
        <p:nvSpPr>
          <p:cNvPr id="64" name="Text 54"/>
          <p:cNvSpPr/>
          <p:nvPr/>
        </p:nvSpPr>
        <p:spPr>
          <a:xfrm>
            <a:off x="4480560" y="4754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4800" dirty="0"/>
          </a:p>
        </p:txBody>
      </p:sp>
      <p:sp>
        <p:nvSpPr>
          <p:cNvPr id="65" name="Text 55"/>
          <p:cNvSpPr/>
          <p:nvPr/>
        </p:nvSpPr>
        <p:spPr>
          <a:xfrm>
            <a:off x="448056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overhead</a:t>
            </a:r>
            <a:endParaRPr lang="en-US" sz="1400" dirty="0"/>
          </a:p>
        </p:txBody>
      </p:sp>
      <p:sp>
        <p:nvSpPr>
          <p:cNvPr id="66" name="Text 56"/>
          <p:cNvSpPr/>
          <p:nvPr/>
        </p:nvSpPr>
        <p:spPr>
          <a:xfrm>
            <a:off x="44805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in-kernel histogram aggregation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8229600" y="4754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800" dirty="0"/>
          </a:p>
        </p:txBody>
      </p:sp>
      <p:sp>
        <p:nvSpPr>
          <p:cNvPr id="68" name="Text 58"/>
          <p:cNvSpPr/>
          <p:nvPr/>
        </p:nvSpPr>
        <p:spPr>
          <a:xfrm>
            <a:off x="822960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run</a:t>
            </a:r>
            <a:endParaRPr lang="en-US" sz="1400" dirty="0"/>
          </a:p>
        </p:txBody>
      </p:sp>
      <p:sp>
        <p:nvSpPr>
          <p:cNvPr id="69" name="Text 59"/>
          <p:cNvSpPr/>
          <p:nvPr/>
        </p:nvSpPr>
        <p:spPr>
          <a:xfrm>
            <a:off x="822960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artifact archive</a:t>
            </a:r>
            <a:endParaRPr lang="en-US" sz="1100" dirty="0"/>
          </a:p>
        </p:txBody>
      </p:sp>
      <p:sp>
        <p:nvSpPr>
          <p:cNvPr id="70" name="Shape 6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71" name="Text 61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72" name="Text 62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Contention — Not Network Load — Dominates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9308" y="1493520"/>
            <a:ext cx="6573783" cy="481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498080" y="1417320"/>
            <a:ext cx="425196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27×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7680960" y="2880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increase under heavy CPU stress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3474720"/>
            <a:ext cx="109728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stress, low 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E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 μs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stress, high 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E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μs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stress, 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 μs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stress, high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5166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 μs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5806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high network load on an idle system has ≈ 0 scheduling impact. The pain only appears when CPUs are contested.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pic>
        <p:nvPicPr>
          <p:cNvPr id="31" name="Picture 30" descr="baseline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2" y="1523039"/>
            <a:ext cx="6527570" cy="4756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Delay Comparison for all Experiment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11247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5440680"/>
            <a:ext cx="3703320" cy="1024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5440680"/>
            <a:ext cx="73152" cy="10241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504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p50 stays ≈ 4–8 μs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70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is flat across every experiment — users never see the problem at the 50th percentile.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5440680"/>
            <a:ext cx="3703320" cy="1024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5440680"/>
            <a:ext cx="73152" cy="1024128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5504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p99 crosses 1 ms under stress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5870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heavy-stress experiment (E3–E10, E14–E16) sits above the 1 ms line, reaching 2–4 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5440680"/>
            <a:ext cx="3703320" cy="1024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5440680"/>
            <a:ext cx="73152" cy="10241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55046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p99.9 reaches tens of 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5870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events reach 20–260 ms under heavy stress — thousands of times worse than the median.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pic>
        <p:nvPicPr>
          <p:cNvPr id="24" name="Picture 23" descr="percen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63040"/>
            <a:ext cx="11128248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</a:t>
            </a:r>
            <a:r>
              <a:rPr lang="en-US" sz="3000" b="1" dirty="0" err="1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veth</a:t>
            </a: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interfaces, </a:t>
            </a:r>
            <a:r>
              <a:rPr lang="en-US" sz="3000" b="1" dirty="0" err="1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softirq</a:t>
            </a: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follows the socket — Not RPS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92382"/>
            <a:ext cx="6992666" cy="500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637734" y="1371600"/>
            <a:ext cx="425196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0" name="Shape 8"/>
          <p:cNvSpPr/>
          <p:nvPr/>
        </p:nvSpPr>
        <p:spPr>
          <a:xfrm>
            <a:off x="7569570" y="1371600"/>
            <a:ext cx="73152" cy="50292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EFFECTS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 → 0.61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096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spread (E6) reduces concentration — small but measurable.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14.4% → 13.0%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809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single-CPU share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CPU softirq load drops under RPS spread.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4754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61.6%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80960" y="5257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app CPUs (E8)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5532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RPS pinned to CPU 0, CPUs 2 &amp; 3 still handle most softirq — kernel follows socket affinity on veth.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6080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≥5× delay from colocation: partially falsified.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4305C40-AC2B-A42D-5EE0-05C08AE6A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493376"/>
            <a:ext cx="6937802" cy="48159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CPU Contention Cliff is Non-Linear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955280" y="1417320"/>
            <a:ext cx="379476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1417320"/>
            <a:ext cx="73152" cy="502920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474720" cy="10058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011680"/>
            <a:ext cx="73152" cy="1005840"/>
          </a:xfrm>
          <a:prstGeom prst="rect">
            <a:avLst/>
          </a:prstGeom>
          <a:solidFill>
            <a:srgbClr val="A7E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5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7E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 μs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3246120"/>
            <a:ext cx="3474720" cy="10058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3246120"/>
            <a:ext cx="73152" cy="100584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337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cores (mod)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683 μs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5256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 Gbps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4480560"/>
            <a:ext cx="3474720" cy="10058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4480560"/>
            <a:ext cx="73152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 (heavy)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256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4,096 μs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5256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Gbps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5852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stress is absorbed. Heavy stress triggers a sharp, non-linear collapse.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pic>
        <p:nvPicPr>
          <p:cNvPr id="34" name="Picture 33" descr="baseline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19" y="1408176"/>
            <a:ext cx="7193281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 and UDP Converge Under CPU Stress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9629" y="1417320"/>
            <a:ext cx="7448203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12133" y="1324275"/>
            <a:ext cx="425196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0" name="Shape 8"/>
          <p:cNvSpPr/>
          <p:nvPr/>
        </p:nvSpPr>
        <p:spPr>
          <a:xfrm>
            <a:off x="7654568" y="1324275"/>
            <a:ext cx="73152" cy="5029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7816458" y="156113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62425" y="1883547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100×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7816458" y="2946031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softirq events for UDP vs TCP (per byte)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6458" y="3530416"/>
            <a:ext cx="1097280" cy="36576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5" name="Text 13"/>
          <p:cNvSpPr/>
          <p:nvPr/>
        </p:nvSpPr>
        <p:spPr>
          <a:xfrm>
            <a:off x="7872153" y="377653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 M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softirq events (0.34 Gbps)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636 K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softirq events (14.88 Gbps)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6458" y="5347635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TCP and UDP cross the 1 ms line under heavy stress — CPU starvation dominates over protocol cost.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pic>
        <p:nvPicPr>
          <p:cNvPr id="20" name="Picture 19" descr="tcp_u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78" y="1451403"/>
            <a:ext cx="7433554" cy="4842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Mitigation Fixes p99 Under Saturation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5074920"/>
            <a:ext cx="27432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5074920"/>
            <a:ext cx="45719" cy="1463040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749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5047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RPS spread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p99 fix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715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21% throughput, but p99 stays at 4,096 μs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5047488"/>
            <a:ext cx="2743200" cy="1490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 flipH="1">
            <a:off x="3364991" y="5047488"/>
            <a:ext cx="45719" cy="1490472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0749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94760" y="5047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pinning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7472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p99 fix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74720" y="5715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migrations, but softirq still co-located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5074920"/>
            <a:ext cx="27432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6144768" y="507492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50749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5047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CFS lowlat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0936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p99 fix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09360" y="5715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switches, unchanged tail latency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961120" y="5074920"/>
            <a:ext cx="27432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8979408" y="5047488"/>
            <a:ext cx="54864" cy="1490472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07492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64040" y="5047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ksoftirqd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14400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p99 fix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144000" y="5715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 has no sustained NAPI poll pressure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34" name="Text 28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3CCA70B-EE03-D1FF-71CB-35D01A152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504" y="1197864"/>
            <a:ext cx="7097823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SO_BUSY_POLL — The One Mitigation With a Distinct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858000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6858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498080" y="1417320"/>
            <a:ext cx="4251960" cy="502920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417320"/>
            <a:ext cx="73152" cy="50292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7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E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switches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20939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 M vs 3.31 M (E16 vs E4)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E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2468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migrations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26883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 vs 6.2 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3063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E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5256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softirq CPU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0" y="3282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all 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3931920"/>
            <a:ext cx="3931920" cy="36576"/>
          </a:xfrm>
          <a:prstGeom prst="rect">
            <a:avLst/>
          </a:prstGeom>
          <a:solidFill>
            <a:srgbClr val="1E3A66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43434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unchanged (still 4,096 μs)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switches drop, but p50 jitter remains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+ busy_poll combo is worse: −35% throughput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pic>
        <p:nvPicPr>
          <p:cNvPr id="27" name="Picture 26" descr="h4_c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568830"/>
            <a:ext cx="6636327" cy="47993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14300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777240" cy="77724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Softirq colocation increases p99 delay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600200"/>
            <a:ext cx="2468880" cy="36576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0525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947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spread reduces Gini 0.62 → 0.61, but softirq follows socket affinity on veth — CPU contention dominates delay.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1124712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73152" cy="1143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777240" cy="77724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45920" y="28072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ksoftirqd threading reduces tail latency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52560" y="2852928"/>
            <a:ext cx="246888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05256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2004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 p99 identical to E4. NAPI budget reduction has no effect on veth (no sustained NAPI pressure).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1124712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21" name="Shape 19"/>
          <p:cNvSpPr/>
          <p:nvPr/>
        </p:nvSpPr>
        <p:spPr>
          <a:xfrm>
            <a:off x="457200" y="3922776"/>
            <a:ext cx="73152" cy="1143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85800" y="4105656"/>
            <a:ext cx="777240" cy="77724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41056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45920" y="40599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UDP adds less per-packet scheduling delay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52560" y="4105656"/>
            <a:ext cx="246888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052560" y="4105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45312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E12 UDP p99 = E4 TCP p99 under heavy stress. CPU starvation dominates protocol overhead.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175504"/>
            <a:ext cx="11247120" cy="1143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7200" y="5175504"/>
            <a:ext cx="73152" cy="11430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5800" y="5358384"/>
            <a:ext cx="777240" cy="777240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5800" y="535838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645920" y="53126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fixes combined reduce p99 by ≥20%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052560" y="5358384"/>
            <a:ext cx="246888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052560" y="5358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45920" y="5705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too many optimizations creates problems as they start competing with each other.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of low latency : </a:t>
            </a:r>
            <a:r>
              <a:rPr lang="en-US" sz="32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provisioning and thread isolation.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Network-stack tuning boost throughput  — but saturated CPU will ruin  p99 latency.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657600" cy="27432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749040"/>
            <a:ext cx="73152" cy="274320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</a:rPr>
              <a:t>Provision, then tune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31520" y="5074920"/>
            <a:ext cx="731520" cy="36576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2120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some CPUs free. Overloading them causes performance to degrade suddenly, not gradually.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51960" y="3749040"/>
            <a:ext cx="3657600" cy="27432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3749040"/>
            <a:ext cx="73152" cy="274320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9319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second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4526280" y="5074920"/>
            <a:ext cx="731520" cy="36576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16" name="Text 12"/>
          <p:cNvSpPr/>
          <p:nvPr/>
        </p:nvSpPr>
        <p:spPr>
          <a:xfrm>
            <a:off x="4526280" y="52120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latency critical threads to the specific CPUs and keep the interrupt processed on separate cores.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3749040"/>
            <a:ext cx="3657600" cy="27432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0" y="3749040"/>
            <a:ext cx="73152" cy="274320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319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is gravy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8321040" y="5074920"/>
            <a:ext cx="731520" cy="36576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22" name="Text 17"/>
          <p:cNvSpPr/>
          <p:nvPr/>
        </p:nvSpPr>
        <p:spPr>
          <a:xfrm>
            <a:off x="8321040" y="52120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helps in throughput and efficiency — not tail latency under saturation.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" y="67025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638 · Profiling Kernel Scheduling Delays · Team 24 · IIIT-Delhi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702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394960" cy="36576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73152" cy="3657600"/>
          </a:xfrm>
          <a:prstGeom prst="rect">
            <a:avLst/>
          </a:prstGeom>
          <a:solidFill>
            <a:srgbClr val="F4B86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8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30175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profiling toolkit (5 scripts, &lt;5% overhead)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16-experiment matrix, 48 total runs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package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286000"/>
            <a:ext cx="5394960" cy="3657600"/>
          </a:xfrm>
          <a:prstGeom prst="rect">
            <a:avLst/>
          </a:prstGeom>
          <a:solidFill>
            <a:srgbClr val="11264F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2286000"/>
            <a:ext cx="73152" cy="365760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68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A0A0"/>
                </a:solidFill>
                <a:latin typeface="Georgia" pitchFamily="34" charset="0"/>
              </a:rPr>
              <a:t>What w</a:t>
            </a:r>
            <a:r>
              <a:rPr lang="en-US" sz="1800" b="1" dirty="0">
                <a:solidFill>
                  <a:srgbClr val="21A0A0"/>
                </a:solidFill>
                <a:latin typeface="Georgia" pitchFamily="34" charset="0"/>
              </a:rPr>
              <a:t>e Understand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30175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contention — not network load — owns tail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→ heavy is a non-linear cliff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stack mitigation fixes saturation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busy_poll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switches, trades median for tail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24  ·  IIIT-Delhi  ·  CSE 638 Graduate Systems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2228</Words>
  <Application>Microsoft Office PowerPoint</Application>
  <PresentationFormat>Widescreen</PresentationFormat>
  <Paragraphs>445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Profiling Kernel Scheduling Delays Under Network-Intensive Workloads</dc:title>
  <dc:subject>PptxGenJS Presentation</dc:subject>
  <dc:creator>Team 24 — IIIT-Delhi</dc:creator>
  <cp:lastModifiedBy>Adarsh Shukla</cp:lastModifiedBy>
  <cp:revision>5</cp:revision>
  <dcterms:created xsi:type="dcterms:W3CDTF">2026-04-18T09:07:05Z</dcterms:created>
  <dcterms:modified xsi:type="dcterms:W3CDTF">2026-04-18T14:47:41Z</dcterms:modified>
</cp:coreProperties>
</file>